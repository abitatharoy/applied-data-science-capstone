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4"/>
  </p:notesMasterIdLst>
  <p:handoutMasterIdLst>
    <p:handoutMasterId r:id="rId55"/>
  </p:handoutMasterIdLst>
  <p:sldIdLst>
    <p:sldId id="327" r:id="rId5"/>
    <p:sldId id="330" r:id="rId6"/>
    <p:sldId id="331" r:id="rId7"/>
    <p:sldId id="332" r:id="rId8"/>
    <p:sldId id="333" r:id="rId9"/>
    <p:sldId id="298" r:id="rId10"/>
    <p:sldId id="262" r:id="rId11"/>
    <p:sldId id="263" r:id="rId12"/>
    <p:sldId id="299" r:id="rId13"/>
    <p:sldId id="302" r:id="rId14"/>
    <p:sldId id="264" r:id="rId15"/>
    <p:sldId id="266" r:id="rId16"/>
    <p:sldId id="265" r:id="rId17"/>
    <p:sldId id="276" r:id="rId18"/>
    <p:sldId id="303" r:id="rId19"/>
    <p:sldId id="293" r:id="rId20"/>
    <p:sldId id="334" r:id="rId21"/>
    <p:sldId id="277" r:id="rId22"/>
    <p:sldId id="284" r:id="rId23"/>
    <p:sldId id="269" r:id="rId24"/>
    <p:sldId id="304" r:id="rId25"/>
    <p:sldId id="305" r:id="rId26"/>
    <p:sldId id="307" r:id="rId27"/>
    <p:sldId id="306" r:id="rId28"/>
    <p:sldId id="308" r:id="rId29"/>
    <p:sldId id="270" r:id="rId30"/>
    <p:sldId id="309" r:id="rId31"/>
    <p:sldId id="310" r:id="rId32"/>
    <p:sldId id="311" r:id="rId33"/>
    <p:sldId id="312" r:id="rId34"/>
    <p:sldId id="314" r:id="rId35"/>
    <p:sldId id="313" r:id="rId36"/>
    <p:sldId id="315" r:id="rId37"/>
    <p:sldId id="316" r:id="rId38"/>
    <p:sldId id="317" r:id="rId39"/>
    <p:sldId id="294" r:id="rId40"/>
    <p:sldId id="296" r:id="rId41"/>
    <p:sldId id="318" r:id="rId42"/>
    <p:sldId id="319" r:id="rId43"/>
    <p:sldId id="321" r:id="rId44"/>
    <p:sldId id="322" r:id="rId45"/>
    <p:sldId id="323" r:id="rId46"/>
    <p:sldId id="324" r:id="rId47"/>
    <p:sldId id="288" r:id="rId48"/>
    <p:sldId id="289" r:id="rId49"/>
    <p:sldId id="320" r:id="rId50"/>
    <p:sldId id="274" r:id="rId51"/>
    <p:sldId id="275" r:id="rId52"/>
    <p:sldId id="329" r:id="rId53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70" d="100"/>
          <a:sy n="70" d="100"/>
        </p:scale>
        <p:origin x="1373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62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itathaRoy/Applied-Data-Science-Capstone/blob/main/jupyter-labs-spacex-1-data-collection-api-v2.ipyn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itathaRoy/Applied-Data-Science-Capstone/blob/main/jupyter-labs-2-webscraping.ipyn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itathaRoy/Applied-Data-Science-Capstone/blob/main/labs-jupyter-spacex-3-Data%20wrangling-v2.ipyn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itathaRoy/Applied-Data-Science-Capstone/blob/main/jupyter-labs-5-eda-dataviz-v2.ipyn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itathaRoy/Applied-Data-Science-Capstone/blob/main/jupyter-labs-4-eda-sql-coursera_sqllite.ipyn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itathaRoy/Applied-Data-Science-Capstone/blob/main/lab-jupyter-6-launch-site-location-v2.ipyn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itathaRoy/Applied-Data-Science-Capstone/blob/main/spacex_dash_app.py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itathaRoy/Applied-Data-Science-Capstone/blob/main/jupyter-labs-7-SpaceX-Machine-Learning-Prediction-Part-5-v1.ipyn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Abitatha Roy</a:t>
            </a: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02/06/2026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1491343"/>
            <a:ext cx="10326708" cy="4828007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</a:rPr>
              <a:t>Objective:</a:t>
            </a:r>
            <a:r>
              <a:rPr lang="en-US" sz="2000" dirty="0">
                <a:solidFill>
                  <a:schemeClr val="tx1"/>
                </a:solidFill>
              </a:rPr>
              <a:t> Traditional space providers charge $165M+ per launch; SpaceX structures a massive cost arbitrage by offering the Falcon 9 at $62M via first-stage booster reuse. This project builds a predictive analytics framework to determine landing success, enabling commercial competitors to price launch contracts confidently.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Integrated Methodology:</a:t>
            </a:r>
            <a:r>
              <a:rPr lang="en-US" sz="2000" dirty="0">
                <a:solidFill>
                  <a:schemeClr val="tx1"/>
                </a:solidFill>
              </a:rPr>
              <a:t> Engineered an end-to-end pipeline by extracting core parameters via </a:t>
            </a:r>
            <a:r>
              <a:rPr lang="en-US" sz="2000" b="1" dirty="0">
                <a:solidFill>
                  <a:schemeClr val="tx1"/>
                </a:solidFill>
              </a:rPr>
              <a:t>SpaceX REST API</a:t>
            </a:r>
            <a:r>
              <a:rPr lang="en-US" sz="2000" dirty="0">
                <a:solidFill>
                  <a:schemeClr val="tx1"/>
                </a:solidFill>
              </a:rPr>
              <a:t> and scraping historical tables using </a:t>
            </a:r>
            <a:r>
              <a:rPr lang="en-US" sz="2000" b="1" dirty="0">
                <a:solidFill>
                  <a:schemeClr val="tx1"/>
                </a:solidFill>
              </a:rPr>
              <a:t>Wikipedia (</a:t>
            </a:r>
            <a:r>
              <a:rPr lang="en-US" sz="2000" b="1" dirty="0" err="1">
                <a:solidFill>
                  <a:schemeClr val="tx1"/>
                </a:solidFill>
              </a:rPr>
              <a:t>BeautifulSoup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r>
              <a:rPr lang="en-US" sz="2000" dirty="0">
                <a:solidFill>
                  <a:schemeClr val="tx1"/>
                </a:solidFill>
              </a:rPr>
              <a:t>. Processed and encoded a binary target variable (Class: 1=Success, 0=Failure), performed spatial proximity tracking via </a:t>
            </a:r>
            <a:r>
              <a:rPr lang="en-US" sz="2000" b="1" dirty="0">
                <a:solidFill>
                  <a:schemeClr val="tx1"/>
                </a:solidFill>
              </a:rPr>
              <a:t>Folium maps</a:t>
            </a:r>
            <a:r>
              <a:rPr lang="en-US" sz="2000" dirty="0">
                <a:solidFill>
                  <a:schemeClr val="tx1"/>
                </a:solidFill>
              </a:rPr>
              <a:t>, conducted relational queries via </a:t>
            </a:r>
            <a:r>
              <a:rPr lang="en-US" sz="2000" b="1" dirty="0">
                <a:solidFill>
                  <a:schemeClr val="tx1"/>
                </a:solidFill>
              </a:rPr>
              <a:t>SQL (SQLite)</a:t>
            </a:r>
            <a:r>
              <a:rPr lang="en-US" sz="2000" dirty="0">
                <a:solidFill>
                  <a:schemeClr val="tx1"/>
                </a:solidFill>
              </a:rPr>
              <a:t>, and optimized four predictive frameworks (</a:t>
            </a:r>
            <a:r>
              <a:rPr lang="en-US" sz="2000" b="1" dirty="0">
                <a:solidFill>
                  <a:schemeClr val="tx1"/>
                </a:solidFill>
              </a:rPr>
              <a:t>Logistic Regression, SVM, KNN, Decision Tree</a:t>
            </a:r>
            <a:r>
              <a:rPr lang="en-US" sz="2000" dirty="0">
                <a:solidFill>
                  <a:schemeClr val="tx1"/>
                </a:solidFill>
              </a:rPr>
              <a:t>) using a standardized </a:t>
            </a:r>
            <a:r>
              <a:rPr lang="en-US" sz="2000" b="1" dirty="0">
                <a:solidFill>
                  <a:schemeClr val="tx1"/>
                </a:solidFill>
              </a:rPr>
              <a:t>10-Fold Cross-Validation Grid Search (</a:t>
            </a:r>
            <a:r>
              <a:rPr lang="en-US" sz="2000" b="1" dirty="0" err="1">
                <a:solidFill>
                  <a:schemeClr val="tx1"/>
                </a:solidFill>
              </a:rPr>
              <a:t>GridSearchCV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Core Results:</a:t>
            </a:r>
            <a:r>
              <a:rPr lang="en-US" sz="2000" dirty="0">
                <a:solidFill>
                  <a:schemeClr val="tx1"/>
                </a:solidFill>
              </a:rPr>
              <a:t> Visual EDA exposed a critical operational threshold where early flight numbers with payloads $&gt;10,000\text{ kg}$ faced steep failure risks, which completely inverted as booster sequences matured. Upon validation, all optimized ML algorithms converged on an identical baseline classification accuracy of </a:t>
            </a:r>
            <a:r>
              <a:rPr lang="en-US" sz="2000" b="1" dirty="0">
                <a:solidFill>
                  <a:schemeClr val="tx1"/>
                </a:solidFill>
              </a:rPr>
              <a:t>83.33% with a 0% False Negative rate</a:t>
            </a:r>
            <a:r>
              <a:rPr lang="en-US" sz="2000" dirty="0">
                <a:solidFill>
                  <a:schemeClr val="tx1"/>
                </a:solidFill>
              </a:rPr>
              <a:t>—crucial for commercial operations as it mitigates the financial risk of an unpredicted booster loss.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958696" y="1469571"/>
            <a:ext cx="10499275" cy="45560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Project Background &amp; Context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The Aerospace Cost Paradigm:</a:t>
            </a:r>
            <a:r>
              <a:rPr lang="en-US" sz="2400" dirty="0">
                <a:solidFill>
                  <a:schemeClr val="tx1"/>
                </a:solidFill>
              </a:rPr>
              <a:t> Historically, space exploration has been constrained by extreme financial barriers. Traditional commercial aerospace providers operate on expendable launch architectures, discarding the entire vehicle after a single mission and resulting in a steep baseline cost upwards of </a:t>
            </a:r>
            <a:r>
              <a:rPr lang="en-US" sz="2400" b="1" dirty="0">
                <a:solidFill>
                  <a:schemeClr val="tx1"/>
                </a:solidFill>
              </a:rPr>
              <a:t>$165 Million per launch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The SpaceX Disruption:</a:t>
            </a:r>
            <a:r>
              <a:rPr lang="en-US" sz="2400" dirty="0">
                <a:solidFill>
                  <a:schemeClr val="tx1"/>
                </a:solidFill>
              </a:rPr>
              <a:t> SpaceX structurally disrupted this economic model by offering the Falcon 9 vehicle at a market-rate fraction of </a:t>
            </a:r>
            <a:r>
              <a:rPr lang="en-US" sz="2400" b="1" dirty="0">
                <a:solidFill>
                  <a:schemeClr val="tx1"/>
                </a:solidFill>
              </a:rPr>
              <a:t>~$62 Million per launch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The Core Mechanism:</a:t>
            </a:r>
            <a:r>
              <a:rPr lang="en-US" sz="2400" dirty="0">
                <a:solidFill>
                  <a:schemeClr val="tx1"/>
                </a:solidFill>
              </a:rPr>
              <a:t> This massive cost arbitrage is achieved entirely through the engineering capability to safely guide, land, and reuse the rocket's first-stage booster core instead of treating it as an expendable asset.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Commercial Leverage:</a:t>
            </a:r>
            <a:r>
              <a:rPr lang="en-US" sz="2400" dirty="0">
                <a:solidFill>
                  <a:schemeClr val="tx1"/>
                </a:solidFill>
              </a:rPr>
              <a:t> For any competing space launch provider or vendor looking to enter or bid effectively within this commercial landscape, understanding the predictable variables behind a successful booster recovery is critical for calculating precise financial risk and pricing competitive, data-driven launch bids.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920A9-3CF1-8DE2-0C31-0DE734D88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852D8-3713-9216-5BF1-D088F9BF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0F67958-0707-F808-96ED-DD446FE03FD7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A95342-209D-BDDE-293E-040B36A60631}"/>
              </a:ext>
            </a:extLst>
          </p:cNvPr>
          <p:cNvSpPr txBox="1">
            <a:spLocks/>
          </p:cNvSpPr>
          <p:nvPr/>
        </p:nvSpPr>
        <p:spPr>
          <a:xfrm>
            <a:off x="958696" y="1469571"/>
            <a:ext cx="10499275" cy="45560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Core Research Questions</a:t>
            </a:r>
          </a:p>
          <a:p>
            <a:r>
              <a:rPr lang="en-US" sz="2400" dirty="0">
                <a:solidFill>
                  <a:schemeClr val="tx1"/>
                </a:solidFill>
              </a:rPr>
              <a:t>To reverse-engineer these operational dynamics, this predictive analytics framework addresses four fundamental core questions: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Operational Metrics:</a:t>
            </a:r>
            <a:r>
              <a:rPr lang="en-US" sz="2400" dirty="0">
                <a:solidFill>
                  <a:schemeClr val="tx1"/>
                </a:solidFill>
              </a:rPr>
              <a:t> How strongly do physical mission properties—specifically </a:t>
            </a:r>
            <a:r>
              <a:rPr lang="en-US" sz="2400" b="1" dirty="0">
                <a:solidFill>
                  <a:schemeClr val="tx1"/>
                </a:solidFill>
              </a:rPr>
              <a:t>Payload Mass (kg)</a:t>
            </a:r>
            <a:r>
              <a:rPr lang="en-US" sz="2400" dirty="0">
                <a:solidFill>
                  <a:schemeClr val="tx1"/>
                </a:solidFill>
              </a:rPr>
              <a:t> and the targeted </a:t>
            </a:r>
            <a:r>
              <a:rPr lang="en-US" sz="2400" b="1" dirty="0">
                <a:solidFill>
                  <a:schemeClr val="tx1"/>
                </a:solidFill>
              </a:rPr>
              <a:t>Orbit Type (GTO, LEO, SSO, etc.)</a:t>
            </a:r>
            <a:r>
              <a:rPr lang="en-US" sz="2400" dirty="0">
                <a:solidFill>
                  <a:schemeClr val="tx1"/>
                </a:solidFill>
              </a:rPr>
              <a:t>—influence the mathematical probability of a successful landing?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Spatial Analytics:</a:t>
            </a:r>
            <a:r>
              <a:rPr lang="en-US" sz="2400" dirty="0">
                <a:solidFill>
                  <a:schemeClr val="tx1"/>
                </a:solidFill>
              </a:rPr>
              <a:t> Do specific geographical launch facilities (</a:t>
            </a:r>
            <a:r>
              <a:rPr lang="en-US" sz="2400" b="1" dirty="0">
                <a:solidFill>
                  <a:schemeClr val="tx1"/>
                </a:solidFill>
              </a:rPr>
              <a:t>CCAFS, KSC, VAFB</a:t>
            </a:r>
            <a:r>
              <a:rPr lang="en-US" sz="2400" dirty="0">
                <a:solidFill>
                  <a:schemeClr val="tx1"/>
                </a:solidFill>
              </a:rPr>
              <a:t>) reveal statistical clustering or higher success rates based on infrastructure and proximity to landing zones?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Temporal Progression:</a:t>
            </a:r>
            <a:r>
              <a:rPr lang="en-US" sz="2400" dirty="0">
                <a:solidFill>
                  <a:schemeClr val="tx1"/>
                </a:solidFill>
              </a:rPr>
              <a:t> Does the historical sequence of flights (</a:t>
            </a:r>
            <a:r>
              <a:rPr lang="en-US" sz="2400" b="1" dirty="0">
                <a:solidFill>
                  <a:schemeClr val="tx1"/>
                </a:solidFill>
              </a:rPr>
              <a:t>Flight Number</a:t>
            </a:r>
            <a:r>
              <a:rPr lang="en-US" sz="2400" dirty="0">
                <a:solidFill>
                  <a:schemeClr val="tx1"/>
                </a:solidFill>
              </a:rPr>
              <a:t>) indicate a clear operational maturity curve where landing safety bounds improve over time?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Predictive Automation:</a:t>
            </a:r>
            <a:r>
              <a:rPr lang="en-US" sz="2400" dirty="0">
                <a:solidFill>
                  <a:schemeClr val="tx1"/>
                </a:solidFill>
              </a:rPr>
              <a:t> Can a tuned Machine Learning classification algorithm accurately ingest these real-time flight telemetry variables to automate a reliable "Success" or "Failure" determination prior to a launch execution?</a:t>
            </a:r>
          </a:p>
        </p:txBody>
      </p:sp>
    </p:spTree>
    <p:extLst>
      <p:ext uri="{BB962C8B-B14F-4D97-AF65-F5344CB8AC3E}">
        <p14:creationId xmlns:p14="http://schemas.microsoft.com/office/powerpoint/2010/main" val="1511912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439293"/>
            <a:ext cx="10104817" cy="5211877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2600" dirty="0">
                <a:solidFill>
                  <a:srgbClr val="0B49CB"/>
                </a:solidFill>
                <a:latin typeface="Abadi"/>
              </a:rPr>
              <a:t>Executive Summary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Data Collection:</a:t>
            </a:r>
            <a:r>
              <a:rPr lang="en-US" sz="2200" dirty="0">
                <a:solidFill>
                  <a:schemeClr val="tx1"/>
                </a:solidFill>
              </a:rPr>
              <a:t> Combined unstructured and structured launch domains by pulling real-time, core telemetry variables from the official </a:t>
            </a:r>
            <a:r>
              <a:rPr lang="en-US" sz="2200" b="1" dirty="0">
                <a:solidFill>
                  <a:schemeClr val="tx1"/>
                </a:solidFill>
              </a:rPr>
              <a:t>SpaceX REST API</a:t>
            </a:r>
            <a:r>
              <a:rPr lang="en-US" sz="2200" dirty="0">
                <a:solidFill>
                  <a:schemeClr val="tx1"/>
                </a:solidFill>
              </a:rPr>
              <a:t> and scraping historical launch tables from </a:t>
            </a:r>
            <a:r>
              <a:rPr lang="en-US" sz="2200" b="1" dirty="0">
                <a:solidFill>
                  <a:schemeClr val="tx1"/>
                </a:solidFill>
              </a:rPr>
              <a:t>Wikipedia</a:t>
            </a:r>
            <a:r>
              <a:rPr lang="en-US" sz="2200" dirty="0">
                <a:solidFill>
                  <a:schemeClr val="tx1"/>
                </a:solidFill>
              </a:rPr>
              <a:t> using </a:t>
            </a:r>
            <a:r>
              <a:rPr lang="en-US" sz="2200" dirty="0" err="1">
                <a:solidFill>
                  <a:schemeClr val="tx1"/>
                </a:solidFill>
              </a:rPr>
              <a:t>BeautifulSoup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Data Wrangling:</a:t>
            </a:r>
            <a:r>
              <a:rPr lang="en-US" sz="2200" dirty="0">
                <a:solidFill>
                  <a:schemeClr val="tx1"/>
                </a:solidFill>
              </a:rPr>
              <a:t> Handled missing attributes via statistical imputation and engineered a binary target vector (1 = </a:t>
            </a:r>
            <a:r>
              <a:rPr lang="en-US" sz="2200" b="1" dirty="0">
                <a:solidFill>
                  <a:schemeClr val="tx1"/>
                </a:solidFill>
              </a:rPr>
              <a:t>Successful Booster Recovery</a:t>
            </a:r>
            <a:r>
              <a:rPr lang="en-US" sz="2200" dirty="0">
                <a:solidFill>
                  <a:schemeClr val="tx1"/>
                </a:solidFill>
              </a:rPr>
              <a:t>, 0 = </a:t>
            </a:r>
            <a:r>
              <a:rPr lang="en-US" sz="2200" b="1" dirty="0">
                <a:solidFill>
                  <a:schemeClr val="tx1"/>
                </a:solidFill>
              </a:rPr>
              <a:t>Uncontrolled/Lost Core</a:t>
            </a:r>
            <a:r>
              <a:rPr lang="en-US" sz="2200" dirty="0">
                <a:solidFill>
                  <a:schemeClr val="tx1"/>
                </a:solidFill>
              </a:rPr>
              <a:t>) to formulate the classification boundary.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Exploratory Data Analysis (EDA):</a:t>
            </a:r>
            <a:r>
              <a:rPr lang="en-US" sz="2200" dirty="0">
                <a:solidFill>
                  <a:schemeClr val="tx1"/>
                </a:solidFill>
              </a:rPr>
              <a:t> Connected data subsets to a </a:t>
            </a:r>
            <a:r>
              <a:rPr lang="en-US" sz="2200" b="1" dirty="0">
                <a:solidFill>
                  <a:schemeClr val="tx1"/>
                </a:solidFill>
              </a:rPr>
              <a:t>SQL (SQLite)</a:t>
            </a:r>
            <a:r>
              <a:rPr lang="en-US" sz="2200" dirty="0">
                <a:solidFill>
                  <a:schemeClr val="tx1"/>
                </a:solidFill>
              </a:rPr>
              <a:t> instance to query key launch patterns, then mapped multi-variable feature profiles using </a:t>
            </a:r>
            <a:r>
              <a:rPr lang="en-US" sz="2200" b="1" dirty="0">
                <a:solidFill>
                  <a:schemeClr val="tx1"/>
                </a:solidFill>
              </a:rPr>
              <a:t>Seaborn</a:t>
            </a:r>
            <a:r>
              <a:rPr lang="en-US" sz="2200" dirty="0">
                <a:solidFill>
                  <a:schemeClr val="tx1"/>
                </a:solidFill>
              </a:rPr>
              <a:t> to isolate payload thresholds vs. landing trends.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Interactive Mapping:</a:t>
            </a:r>
            <a:r>
              <a:rPr lang="en-US" sz="2200" dirty="0">
                <a:solidFill>
                  <a:schemeClr val="tx1"/>
                </a:solidFill>
              </a:rPr>
              <a:t> Built an interactive </a:t>
            </a:r>
            <a:r>
              <a:rPr lang="en-US" sz="2200" b="1" dirty="0">
                <a:solidFill>
                  <a:schemeClr val="tx1"/>
                </a:solidFill>
              </a:rPr>
              <a:t>Folium geographic map</a:t>
            </a:r>
            <a:r>
              <a:rPr lang="en-US" sz="2200" dirty="0">
                <a:solidFill>
                  <a:schemeClr val="tx1"/>
                </a:solidFill>
              </a:rPr>
              <a:t> to perform proximity audits, evaluating launch site coordinates against shoreline hazards, railway links, and localized success clusters.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Predictive Analysis (ML):</a:t>
            </a:r>
            <a:r>
              <a:rPr lang="en-US" sz="2200" dirty="0">
                <a:solidFill>
                  <a:schemeClr val="tx1"/>
                </a:solidFill>
              </a:rPr>
              <a:t> One-hot encoded categorical parameters, scaled features with a </a:t>
            </a:r>
            <a:r>
              <a:rPr lang="en-US" sz="2200" dirty="0" err="1">
                <a:solidFill>
                  <a:schemeClr val="tx1"/>
                </a:solidFill>
              </a:rPr>
              <a:t>StandardScaler</a:t>
            </a:r>
            <a:r>
              <a:rPr lang="en-US" sz="2200" dirty="0">
                <a:solidFill>
                  <a:schemeClr val="tx1"/>
                </a:solidFill>
              </a:rPr>
              <a:t>, and executed a </a:t>
            </a:r>
            <a:r>
              <a:rPr lang="en-US" sz="2200" b="1" dirty="0">
                <a:solidFill>
                  <a:schemeClr val="tx1"/>
                </a:solidFill>
              </a:rPr>
              <a:t>10-Fold Cross-Validation Grid Search (</a:t>
            </a:r>
            <a:r>
              <a:rPr lang="en-US" sz="2200" b="1" dirty="0" err="1">
                <a:solidFill>
                  <a:schemeClr val="tx1"/>
                </a:solidFill>
              </a:rPr>
              <a:t>GridSearchCV</a:t>
            </a:r>
            <a:r>
              <a:rPr lang="en-US" sz="2200" b="1" dirty="0">
                <a:solidFill>
                  <a:schemeClr val="tx1"/>
                </a:solidFill>
              </a:rPr>
              <a:t>)</a:t>
            </a:r>
            <a:r>
              <a:rPr lang="en-US" sz="2200" dirty="0">
                <a:solidFill>
                  <a:schemeClr val="tx1"/>
                </a:solidFill>
              </a:rPr>
              <a:t> across 4 tuned classification algorithms (Logistic Regression, SVM, KNN, and Decision Trees).</a:t>
            </a:r>
          </a:p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endParaRPr lang="en-US" sz="88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502229"/>
            <a:ext cx="10515600" cy="4674734"/>
          </a:xfrm>
          <a:prstGeom prst="rect">
            <a:avLst/>
          </a:prstGeom>
        </p:spPr>
        <p:txBody>
          <a:bodyPr/>
          <a:lstStyle/>
          <a:p>
            <a:r>
              <a:rPr lang="en-IN" sz="2200" b="1" dirty="0"/>
              <a:t>API Integration:</a:t>
            </a:r>
            <a:r>
              <a:rPr lang="en-IN" sz="2200" dirty="0"/>
              <a:t> </a:t>
            </a:r>
            <a:r>
              <a:rPr lang="en-IN" sz="2200" dirty="0" err="1"/>
              <a:t>Retreived</a:t>
            </a:r>
            <a:r>
              <a:rPr lang="en-IN" sz="2200" dirty="0"/>
              <a:t> structured flight parameter matrices directly from the official </a:t>
            </a:r>
            <a:r>
              <a:rPr lang="en-IN" sz="2200" b="1" dirty="0"/>
              <a:t>SpaceX REST API</a:t>
            </a:r>
            <a:r>
              <a:rPr lang="en-IN" sz="2200" dirty="0"/>
              <a:t> endpoint (https://api.spacexdata.com/v4/launches/past). Unpacked complex nested payloads, core configurations, and landing intent indicators.</a:t>
            </a:r>
          </a:p>
          <a:p>
            <a:r>
              <a:rPr lang="en-IN" sz="2200" b="1" dirty="0"/>
              <a:t>Web Scraping Workflow:</a:t>
            </a:r>
            <a:r>
              <a:rPr lang="en-IN" sz="2200" dirty="0"/>
              <a:t> Supplemented API datasets by parsing historical Falcon 9 launch tables from Wikipedia. Implemented Python's </a:t>
            </a:r>
            <a:r>
              <a:rPr lang="en-IN" sz="2200" dirty="0" err="1"/>
              <a:t>BeautifulSoup</a:t>
            </a:r>
            <a:r>
              <a:rPr lang="en-IN" sz="2200" dirty="0"/>
              <a:t> framework to extract text nodes, isolating flight numbers, date tracking, payload types, and specific outcome strings.</a:t>
            </a:r>
          </a:p>
          <a:p>
            <a:r>
              <a:rPr lang="en-IN" sz="2200" b="1" dirty="0"/>
              <a:t>Feature Filtering:</a:t>
            </a:r>
            <a:r>
              <a:rPr lang="en-IN" sz="2200" dirty="0"/>
              <a:t> Dynamically removed Falcon 1 records to retain only </a:t>
            </a:r>
            <a:r>
              <a:rPr lang="en-IN" sz="2200" b="1" dirty="0"/>
              <a:t>Falcon 9 operational flights</a:t>
            </a:r>
            <a:r>
              <a:rPr lang="en-IN" sz="2200" dirty="0"/>
              <a:t>. Standardized empty telemetry fields (such as missing </a:t>
            </a:r>
            <a:r>
              <a:rPr lang="en-IN" sz="2200" dirty="0" err="1"/>
              <a:t>LandingPad</a:t>
            </a:r>
            <a:r>
              <a:rPr lang="en-IN" sz="2200" dirty="0"/>
              <a:t> dimensions) using contextual structural means to ensure complete data integrity.</a:t>
            </a:r>
          </a:p>
          <a:p>
            <a:r>
              <a:rPr lang="en-IN" sz="2200" b="1" dirty="0"/>
              <a:t>Engineered Target:</a:t>
            </a:r>
            <a:r>
              <a:rPr lang="en-IN" sz="2200" dirty="0"/>
              <a:t> Created a binary operational outcome vector (1 = Successful Recovery, 0 = Booster Loss/Failure) derived from landing strings (e.g., mapping True ASDS and True RTLS to success).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Place your flowchart of SpaceX API calls here</a:t>
            </a:r>
            <a:endParaRPr lang="en-US" dirty="0"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5"/>
            <a:ext cx="4252005" cy="42259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GitHub: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  <a:hlinkClick r:id="rId3"/>
              </a:rPr>
              <a:t>https://github.com/AbitathaRoy/Applied-Data-Science-Capstone/blob/main/jupyter-labs-spacex-1-data-collection-api-v2.ipynb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C92970-FDB8-C646-1B06-3BC3C058D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714" y="1475155"/>
            <a:ext cx="5870275" cy="452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4876800" y="2213986"/>
            <a:ext cx="6752955" cy="38115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GitHub: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  <a:hlinkClick r:id="rId3"/>
              </a:rPr>
              <a:t>https://github.com/AbitathaRoy/Applied-Data-Science-Capstone/blob/main/jupyter-labs-2-webscraping.ipynb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 algn="r"/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74B1BC-D263-3BCC-9748-3D5972DA4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245" y="61442"/>
            <a:ext cx="3753374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469571"/>
            <a:ext cx="10159246" cy="4707392"/>
          </a:xfrm>
          <a:prstGeom prst="rect">
            <a:avLst/>
          </a:prstGeom>
        </p:spPr>
        <p:txBody>
          <a:bodyPr/>
          <a:lstStyle/>
          <a:p>
            <a:r>
              <a:rPr lang="en-US" sz="1600" b="1" dirty="0"/>
              <a:t>Outcomes Overhaul:</a:t>
            </a:r>
            <a:r>
              <a:rPr lang="en-US" sz="1600" dirty="0"/>
              <a:t> Filtered raw landing telemetry records to establish a clear binary success criteria. Operational landing types like </a:t>
            </a:r>
            <a:r>
              <a:rPr lang="en-US" sz="1600" i="1" dirty="0"/>
              <a:t>True ASDS</a:t>
            </a:r>
            <a:r>
              <a:rPr lang="en-US" sz="1600" dirty="0"/>
              <a:t> (Autonomous Spaceport Drone Ship) and </a:t>
            </a:r>
            <a:r>
              <a:rPr lang="en-US" sz="1600" i="1" dirty="0"/>
              <a:t>True RTLS</a:t>
            </a:r>
            <a:r>
              <a:rPr lang="en-US" sz="1600" dirty="0"/>
              <a:t> (Return To Launch Site) were mapped to a successful recovery status of </a:t>
            </a:r>
            <a:r>
              <a:rPr lang="en-US" sz="1600" b="1" dirty="0"/>
              <a:t>1</a:t>
            </a:r>
            <a:r>
              <a:rPr lang="en-US" sz="1600" dirty="0"/>
              <a:t>, while failed variants or lost cores like </a:t>
            </a:r>
            <a:r>
              <a:rPr lang="en-US" sz="1600" i="1" dirty="0"/>
              <a:t>False ASDS</a:t>
            </a:r>
            <a:r>
              <a:rPr lang="en-US" sz="1600" dirty="0"/>
              <a:t>, </a:t>
            </a:r>
            <a:r>
              <a:rPr lang="en-US" sz="1600" i="1" dirty="0"/>
              <a:t>None ASDS</a:t>
            </a:r>
            <a:r>
              <a:rPr lang="en-US" sz="1600" dirty="0"/>
              <a:t>, and </a:t>
            </a:r>
            <a:r>
              <a:rPr lang="en-US" sz="1600" i="1" dirty="0"/>
              <a:t>None Ocean</a:t>
            </a:r>
            <a:r>
              <a:rPr lang="en-US" sz="1600" dirty="0"/>
              <a:t> were mapped to a recovery failure of </a:t>
            </a:r>
            <a:r>
              <a:rPr lang="en-US" sz="1600" b="1" dirty="0"/>
              <a:t>0</a:t>
            </a:r>
            <a:r>
              <a:rPr lang="en-US" sz="1600" dirty="0"/>
              <a:t>.</a:t>
            </a:r>
          </a:p>
          <a:p>
            <a:r>
              <a:rPr lang="en-US" sz="1600" b="1" dirty="0"/>
              <a:t>Missing Value Imputation:</a:t>
            </a:r>
            <a:r>
              <a:rPr lang="en-US" sz="1600" dirty="0"/>
              <a:t> Addressed systematic missing entries across the dataset. Telemetry fields representing unknown parameters, such as unlogged </a:t>
            </a:r>
            <a:r>
              <a:rPr lang="en-US" sz="1600" i="1" dirty="0" err="1"/>
              <a:t>LandingPad</a:t>
            </a:r>
            <a:r>
              <a:rPr lang="en-US" sz="1600" dirty="0"/>
              <a:t> dimensions, were analytically handled using statistical median or class mode distributions to retain complete row structures without biasing the training data.</a:t>
            </a:r>
          </a:p>
          <a:p>
            <a:r>
              <a:rPr lang="en-US" sz="1600" b="1" dirty="0"/>
              <a:t>Categorical Feature Explosion:</a:t>
            </a:r>
            <a:r>
              <a:rPr lang="en-US" sz="1600" dirty="0"/>
              <a:t> Processed descriptive categories including </a:t>
            </a:r>
            <a:r>
              <a:rPr lang="en-US" sz="1600" i="1" dirty="0" err="1"/>
              <a:t>LaunchSite</a:t>
            </a:r>
            <a:r>
              <a:rPr lang="en-US" sz="1600" dirty="0"/>
              <a:t>, </a:t>
            </a:r>
            <a:r>
              <a:rPr lang="en-US" sz="1600" i="1" dirty="0"/>
              <a:t>Orbit</a:t>
            </a:r>
            <a:r>
              <a:rPr lang="en-US" sz="1600" dirty="0"/>
              <a:t>, and specific booster </a:t>
            </a:r>
            <a:r>
              <a:rPr lang="en-US" sz="1600" i="1" dirty="0"/>
              <a:t>Serial</a:t>
            </a:r>
            <a:r>
              <a:rPr lang="en-US" sz="1600" dirty="0"/>
              <a:t> numbers into multi-dimensional numeric matrices by applying </a:t>
            </a:r>
            <a:r>
              <a:rPr lang="en-US" sz="1600" b="1" dirty="0"/>
              <a:t>One-Hot Encoding</a:t>
            </a:r>
            <a:r>
              <a:rPr lang="en-US" sz="1600" dirty="0"/>
              <a:t>. This converted nominal variables into separate binary column indices of </a:t>
            </a:r>
            <a:r>
              <a:rPr lang="en-US" sz="1600" b="1" dirty="0"/>
              <a:t>0</a:t>
            </a:r>
            <a:r>
              <a:rPr lang="en-US" sz="1600" dirty="0"/>
              <a:t> or </a:t>
            </a:r>
            <a:r>
              <a:rPr lang="en-US" sz="1600" b="1" dirty="0"/>
              <a:t>1</a:t>
            </a:r>
            <a:r>
              <a:rPr lang="en-US" sz="1600" dirty="0"/>
              <a:t> to ensure full compatibility with advanced classification frameworks.</a:t>
            </a:r>
          </a:p>
          <a:p>
            <a:r>
              <a:rPr lang="en-US" sz="1600" b="1" dirty="0"/>
              <a:t>Feature Vector Compilation:</a:t>
            </a:r>
            <a:r>
              <a:rPr lang="en-US" sz="1600" dirty="0"/>
              <a:t> Consolidated the engineered matrices into an </a:t>
            </a:r>
            <a:r>
              <a:rPr lang="en-US" sz="1600" b="1" dirty="0"/>
              <a:t>83-dimensional numeric feature space</a:t>
            </a:r>
            <a:r>
              <a:rPr lang="en-US" sz="1600" dirty="0"/>
              <a:t> representing 90 historical Falcon 9 flight profiles, providing the optimized mathematical baseline for the machine learning training pipeline.</a:t>
            </a:r>
          </a:p>
          <a:p>
            <a:endParaRPr lang="en-US" sz="1600" dirty="0"/>
          </a:p>
          <a:p>
            <a:r>
              <a:rPr lang="en-US" sz="1600" b="1" dirty="0"/>
              <a:t>GitHub: </a:t>
            </a:r>
            <a:r>
              <a:rPr lang="en-US" sz="1600" dirty="0">
                <a:hlinkClick r:id="rId3"/>
              </a:rPr>
              <a:t>https://github.com/AbitathaRoy/Applied-Data-Science-Capstone/blob/main/labs-jupyter-spacex-3-Data%20wrangling-v2.ipynb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499053"/>
            <a:ext cx="10278989" cy="5108576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1600" b="1" dirty="0"/>
              <a:t>Launch Site vs. Flight Number:</a:t>
            </a:r>
            <a:r>
              <a:rPr lang="en-US" sz="1600" dirty="0"/>
              <a:t> Mapped all historical launches chronologically using categorical scatter plots to analyze operational patterns. Discovered that SpaceX heavily concentrated early test flights and riskier missions at the </a:t>
            </a:r>
            <a:r>
              <a:rPr lang="en-US" sz="1600" i="1" dirty="0"/>
              <a:t>CCAFS SLC-40</a:t>
            </a:r>
            <a:r>
              <a:rPr lang="en-US" sz="1600" dirty="0"/>
              <a:t> facility, while modern, high-success-rate operational missions transitioned heavily to </a:t>
            </a:r>
            <a:r>
              <a:rPr lang="en-US" sz="1600" i="1" dirty="0"/>
              <a:t>KSC LC-39A</a:t>
            </a:r>
            <a:r>
              <a:rPr lang="en-US" sz="1600" dirty="0"/>
              <a:t>.</a:t>
            </a:r>
          </a:p>
          <a:p>
            <a:r>
              <a:rPr lang="en-US" sz="1600" b="1" dirty="0"/>
              <a:t>Launch Site vs. Payload Mass:</a:t>
            </a:r>
            <a:r>
              <a:rPr lang="en-US" sz="1600" dirty="0"/>
              <a:t> Correlated physical mass constraints across geographical facilities. Visual data patterns revealed that </a:t>
            </a:r>
            <a:r>
              <a:rPr lang="en-US" sz="1600" i="1" dirty="0"/>
              <a:t>CCAFS SLC-40</a:t>
            </a:r>
            <a:r>
              <a:rPr lang="en-US" sz="1600" dirty="0"/>
              <a:t> was utilized for a broad, volatile spread of payload masses, whereas </a:t>
            </a:r>
            <a:r>
              <a:rPr lang="en-US" sz="1600" i="1" dirty="0"/>
              <a:t>KSC LC-39A</a:t>
            </a:r>
            <a:r>
              <a:rPr lang="en-US" sz="1600" dirty="0"/>
              <a:t> was primarily reserved for highly uniform, heavier commercial payloads exceeding </a:t>
            </a:r>
            <a:r>
              <a:rPr lang="en-US" sz="1600" b="1" dirty="0"/>
              <a:t>6,000 kg</a:t>
            </a:r>
            <a:r>
              <a:rPr lang="en-US" sz="1600" dirty="0"/>
              <a:t>.</a:t>
            </a:r>
          </a:p>
          <a:p>
            <a:r>
              <a:rPr lang="en-US" sz="1600" b="1" dirty="0"/>
              <a:t>Success Rate Trends by Orbit:</a:t>
            </a:r>
            <a:r>
              <a:rPr lang="en-US" sz="1600" dirty="0"/>
              <a:t> Evaluated landing performance across target orbital trajectories. Computed near-perfect (100%) booster recovery success metrics for specialized orbits including </a:t>
            </a:r>
            <a:r>
              <a:rPr lang="en-US" sz="1600" b="1" dirty="0"/>
              <a:t>ES-L1, GEO, HEO, and SSO</a:t>
            </a:r>
            <a:r>
              <a:rPr lang="en-US" sz="1600" dirty="0"/>
              <a:t>, while the highly demanded commercial </a:t>
            </a:r>
            <a:r>
              <a:rPr lang="en-US" sz="1600" b="1" dirty="0"/>
              <a:t>GTO</a:t>
            </a:r>
            <a:r>
              <a:rPr lang="en-US" sz="1600" dirty="0"/>
              <a:t> (Geostationary Transfer Orbit) trajectory demonstrated severe performance volatility.</a:t>
            </a:r>
          </a:p>
          <a:p>
            <a:r>
              <a:rPr lang="en-US" sz="1600" b="1" dirty="0"/>
              <a:t>Flight Number vs. Payload Success:</a:t>
            </a:r>
            <a:r>
              <a:rPr lang="en-US" sz="1600" dirty="0"/>
              <a:t> Isolated a critical operational threshold by plotting launch sequences against payload weight. Early-generation flights carrying heavy payloads exceeding </a:t>
            </a:r>
            <a:r>
              <a:rPr lang="en-US" sz="1600" b="1" dirty="0"/>
              <a:t>10,000 kg</a:t>
            </a:r>
            <a:r>
              <a:rPr lang="en-US" sz="1600" dirty="0"/>
              <a:t> yielded steep failure frequencies; however, as the flight sequence number matured, the booster success rate stabilized to a highly reliable baseline across all payload configurations.</a:t>
            </a:r>
          </a:p>
          <a:p>
            <a:r>
              <a:rPr lang="en-US" sz="1600" b="1" dirty="0"/>
              <a:t>Temporal Launch Success:</a:t>
            </a:r>
            <a:r>
              <a:rPr lang="en-US" sz="1600" dirty="0"/>
              <a:t> Tracked annual performance metrics line-by-line from 2013 to 2020. Visual trend charts documented a continuous upward operational learning curve, showing baseline landing success rates climbing from </a:t>
            </a:r>
            <a:r>
              <a:rPr lang="en-US" sz="1600" b="1" dirty="0"/>
              <a:t>0% in 2013</a:t>
            </a:r>
            <a:r>
              <a:rPr lang="en-US" sz="1600" dirty="0"/>
              <a:t> to a highly reliable peak of over </a:t>
            </a:r>
            <a:r>
              <a:rPr lang="en-US" sz="1600" b="1" dirty="0"/>
              <a:t>80% by 2020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GitHub: </a:t>
            </a:r>
            <a:r>
              <a:rPr lang="en-US" sz="1600" dirty="0">
                <a:hlinkClick r:id="rId3"/>
              </a:rPr>
              <a:t>https://github.com/AbitathaRoy/Applied-Data-Science-Capstone/blob/main/jupyter-labs-5-eda-dataviz-v2.ipynb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402284"/>
            <a:ext cx="10409619" cy="5140029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1500" b="1" dirty="0"/>
              <a:t>Launch Site Inventory:</a:t>
            </a:r>
            <a:r>
              <a:rPr lang="en-US" sz="1500" dirty="0"/>
              <a:t> Executed queries using </a:t>
            </a:r>
            <a:r>
              <a:rPr lang="en-US" sz="1500" b="1" dirty="0"/>
              <a:t>SELECT DISTINCT</a:t>
            </a:r>
            <a:r>
              <a:rPr lang="en-US" sz="1500" dirty="0"/>
              <a:t> to isolate all unique launch facilities. Confirmed operations were distributed across primary sites including </a:t>
            </a:r>
            <a:r>
              <a:rPr lang="en-US" sz="1500" i="1" dirty="0"/>
              <a:t>CCAFS LC-40</a:t>
            </a:r>
            <a:r>
              <a:rPr lang="en-US" sz="1500" dirty="0"/>
              <a:t>, </a:t>
            </a:r>
            <a:r>
              <a:rPr lang="en-US" sz="1500" i="1" dirty="0"/>
              <a:t>CCAFS SLC-40</a:t>
            </a:r>
            <a:r>
              <a:rPr lang="en-US" sz="1500" dirty="0"/>
              <a:t>, </a:t>
            </a:r>
            <a:r>
              <a:rPr lang="en-US" sz="1500" i="1" dirty="0"/>
              <a:t>KSC LC-39A</a:t>
            </a:r>
            <a:r>
              <a:rPr lang="en-US" sz="1500" dirty="0"/>
              <a:t>, and </a:t>
            </a:r>
            <a:r>
              <a:rPr lang="en-US" sz="1500" i="1" dirty="0"/>
              <a:t>VAFB SLC-4E</a:t>
            </a:r>
            <a:r>
              <a:rPr lang="en-US" sz="1500" dirty="0"/>
              <a:t>. Filtered records using </a:t>
            </a:r>
            <a:r>
              <a:rPr lang="en-US" sz="1500" b="1" dirty="0"/>
              <a:t>LIKE</a:t>
            </a:r>
            <a:r>
              <a:rPr lang="en-US" sz="1500" dirty="0"/>
              <a:t> patterns to capture all historical flights beginning with the CCAFS prefix.</a:t>
            </a:r>
          </a:p>
          <a:p>
            <a:r>
              <a:rPr lang="en-US" sz="1500" b="1" dirty="0"/>
              <a:t>Mission Mass Aggregations:</a:t>
            </a:r>
            <a:r>
              <a:rPr lang="en-US" sz="1500" dirty="0"/>
              <a:t> Applied </a:t>
            </a:r>
            <a:r>
              <a:rPr lang="en-US" sz="1500" b="1" dirty="0"/>
              <a:t>SUM</a:t>
            </a:r>
            <a:r>
              <a:rPr lang="en-US" sz="1500" dirty="0"/>
              <a:t> and </a:t>
            </a:r>
            <a:r>
              <a:rPr lang="en-US" sz="1500" b="1" dirty="0"/>
              <a:t>AVG</a:t>
            </a:r>
            <a:r>
              <a:rPr lang="en-US" sz="1500" dirty="0"/>
              <a:t> functions to evaluate payload distributions. Isolated the total mass delivered for NASA CRS contracts to calculate fleet-wide logistics demand, and determined the average payload capacity specifically for </a:t>
            </a:r>
            <a:r>
              <a:rPr lang="en-US" sz="1500" i="1" dirty="0"/>
              <a:t>Booster Version F9 v1.1</a:t>
            </a:r>
            <a:r>
              <a:rPr lang="en-US" sz="1500" dirty="0"/>
              <a:t> variants to establish engineering performance baselines.</a:t>
            </a:r>
          </a:p>
          <a:p>
            <a:r>
              <a:rPr lang="en-US" sz="1500" b="1" dirty="0"/>
              <a:t>Historical Ground Milestones:</a:t>
            </a:r>
            <a:r>
              <a:rPr lang="en-US" sz="1500" dirty="0"/>
              <a:t> Utilized the </a:t>
            </a:r>
            <a:r>
              <a:rPr lang="en-US" sz="1500" b="1" dirty="0"/>
              <a:t>MIN</a:t>
            </a:r>
            <a:r>
              <a:rPr lang="en-US" sz="1500" dirty="0"/>
              <a:t> date aggregate function coupled with precise landing filtering. Successfully discovered the exact historical timestamp of the very first booster recovery executed on a ground pad (</a:t>
            </a:r>
            <a:r>
              <a:rPr lang="en-US" sz="1500" i="1" dirty="0"/>
              <a:t>Success (ground pad)</a:t>
            </a:r>
            <a:r>
              <a:rPr lang="en-US" sz="1500" dirty="0"/>
              <a:t>).</a:t>
            </a:r>
          </a:p>
          <a:p>
            <a:r>
              <a:rPr lang="en-US" sz="1500" b="1" dirty="0"/>
              <a:t>Performance Filtering for Drone Ships:</a:t>
            </a:r>
            <a:r>
              <a:rPr lang="en-US" sz="1500" dirty="0"/>
              <a:t> Multi-conditioned queries using </a:t>
            </a:r>
            <a:r>
              <a:rPr lang="en-US" sz="1500" b="1" dirty="0"/>
              <a:t>BETWEEN</a:t>
            </a:r>
            <a:r>
              <a:rPr lang="en-US" sz="1500" dirty="0"/>
              <a:t> and </a:t>
            </a:r>
            <a:r>
              <a:rPr lang="en-US" sz="1500" b="1" dirty="0" err="1"/>
              <a:t>AND</a:t>
            </a:r>
            <a:r>
              <a:rPr lang="en-US" sz="1500" dirty="0"/>
              <a:t> logic isolated highly specific operational parameters. Tracked down all booster versions that successfully achieved drone ship landings (</a:t>
            </a:r>
            <a:r>
              <a:rPr lang="en-US" sz="1500" i="1" dirty="0"/>
              <a:t>Success (drone ship)</a:t>
            </a:r>
            <a:r>
              <a:rPr lang="en-US" sz="1500" dirty="0"/>
              <a:t>) while carrying heavy commercial payloads bounded precisely between </a:t>
            </a:r>
            <a:r>
              <a:rPr lang="en-US" sz="1500" b="1" dirty="0"/>
              <a:t>4,000 kg and 6,000 kg</a:t>
            </a:r>
            <a:r>
              <a:rPr lang="en-US" sz="1500" dirty="0"/>
              <a:t>.</a:t>
            </a:r>
          </a:p>
          <a:p>
            <a:r>
              <a:rPr lang="en-US" sz="1500" b="1" dirty="0"/>
              <a:t>Maximum Capability Records:</a:t>
            </a:r>
            <a:r>
              <a:rPr lang="en-US" sz="1500" dirty="0"/>
              <a:t> Applied subqueries using </a:t>
            </a:r>
            <a:r>
              <a:rPr lang="en-US" sz="1500" b="1" dirty="0"/>
              <a:t>MAX</a:t>
            </a:r>
            <a:r>
              <a:rPr lang="en-US" sz="1500" dirty="0"/>
              <a:t> payload criteria to discover booster limits. Identified that the </a:t>
            </a:r>
            <a:r>
              <a:rPr lang="en-US" sz="1500" i="1" dirty="0"/>
              <a:t>F9 B5 B1048</a:t>
            </a:r>
            <a:r>
              <a:rPr lang="en-US" sz="1500" dirty="0"/>
              <a:t> series and its variations held the maximum capacity record, safely lifting the highest identical payload mass of </a:t>
            </a:r>
            <a:r>
              <a:rPr lang="en-US" sz="1500" b="1" dirty="0"/>
              <a:t>15,600 kg</a:t>
            </a:r>
            <a:r>
              <a:rPr lang="en-US" sz="1500" dirty="0"/>
              <a:t> across multiple sequential missions.</a:t>
            </a:r>
          </a:p>
          <a:p>
            <a:r>
              <a:rPr lang="en-US" sz="1500" b="1" dirty="0"/>
              <a:t>Outcome Frequency Ranking:</a:t>
            </a:r>
            <a:r>
              <a:rPr lang="en-US" sz="1500" dirty="0"/>
              <a:t> Grouped the historical tables using </a:t>
            </a:r>
            <a:r>
              <a:rPr lang="en-US" sz="1500" b="1" dirty="0"/>
              <a:t>GROUP BY</a:t>
            </a:r>
            <a:r>
              <a:rPr lang="en-US" sz="1500" dirty="0"/>
              <a:t> on the landing outcome classifications, ordering the final metrics in descending sequence (</a:t>
            </a:r>
            <a:r>
              <a:rPr lang="en-US" sz="1500" b="1" dirty="0"/>
              <a:t>ORDER BY DESC</a:t>
            </a:r>
            <a:r>
              <a:rPr lang="en-US" sz="1500" dirty="0"/>
              <a:t>). This ranked the fleet-wide records to show that drone ship and ground pad recoveries represented the highest statistical density among all outcomes.</a:t>
            </a:r>
          </a:p>
          <a:p>
            <a:endParaRPr lang="en-US" sz="1500" dirty="0"/>
          </a:p>
          <a:p>
            <a:r>
              <a:rPr lang="en-US" sz="1500" b="1" dirty="0"/>
              <a:t>GitHub: </a:t>
            </a:r>
            <a:r>
              <a:rPr lang="en-US" sz="1500" dirty="0">
                <a:hlinkClick r:id="rId3"/>
              </a:rPr>
              <a:t>https://github.com/AbitathaRoy/Applied-Data-Science-Capstone/blob/main/jupyter-labs-4-eda-sql-coursera_sqllite.ipynb</a:t>
            </a:r>
            <a:endParaRPr lang="en-US" sz="1500" dirty="0"/>
          </a:p>
          <a:p>
            <a:endParaRPr lang="en-US" sz="1500" b="1" dirty="0"/>
          </a:p>
          <a:p>
            <a:endParaRPr lang="en-US" sz="15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513114"/>
            <a:ext cx="10515600" cy="471327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1700" b="1" dirty="0"/>
              <a:t>Spatial Proximity Audits:</a:t>
            </a:r>
            <a:r>
              <a:rPr lang="en-US" sz="1700" dirty="0"/>
              <a:t> Generated interactive maps to visually investigate the coordinates of all major active launch sites (</a:t>
            </a:r>
            <a:r>
              <a:rPr lang="en-US" sz="1700" i="1" dirty="0"/>
              <a:t>CCAFS LC-40</a:t>
            </a:r>
            <a:r>
              <a:rPr lang="en-US" sz="1700" dirty="0"/>
              <a:t>, </a:t>
            </a:r>
            <a:r>
              <a:rPr lang="en-US" sz="1700" i="1" dirty="0"/>
              <a:t>CCAFS SLC-40</a:t>
            </a:r>
            <a:r>
              <a:rPr lang="en-US" sz="1700" dirty="0"/>
              <a:t>, </a:t>
            </a:r>
            <a:r>
              <a:rPr lang="en-US" sz="1700" i="1" dirty="0"/>
              <a:t>KSC LC-39A</a:t>
            </a:r>
            <a:r>
              <a:rPr lang="en-US" sz="1700" dirty="0"/>
              <a:t>, and </a:t>
            </a:r>
            <a:r>
              <a:rPr lang="en-US" sz="1700" i="1" dirty="0"/>
              <a:t>VAFB SLC-4E</a:t>
            </a:r>
            <a:r>
              <a:rPr lang="en-US" sz="1700" dirty="0"/>
              <a:t>). Calculated exact geodesic distance parameters from launchpads to nearby infrastructures using </a:t>
            </a:r>
            <a:r>
              <a:rPr lang="en-US" sz="1700" i="1" dirty="0" err="1"/>
              <a:t>folium.Marker</a:t>
            </a:r>
            <a:r>
              <a:rPr lang="en-US" sz="1700" dirty="0"/>
              <a:t> overlays.</a:t>
            </a:r>
          </a:p>
          <a:p>
            <a:r>
              <a:rPr lang="en-US" sz="1700" b="1" dirty="0"/>
              <a:t>Coastal Positioning Intent:</a:t>
            </a:r>
            <a:r>
              <a:rPr lang="en-US" sz="1700" dirty="0"/>
              <a:t> Proximity measurements mathematically confirmed that all launchpads are positioned directly on shorelines (less than </a:t>
            </a:r>
            <a:r>
              <a:rPr lang="en-US" sz="1700" b="1" dirty="0"/>
              <a:t>2 km</a:t>
            </a:r>
            <a:r>
              <a:rPr lang="en-US" sz="1700" dirty="0"/>
              <a:t> from the ocean). This strategic layout ensures a clear flight envelope over open water, significantly mitigating the risk of debris crashing into populated land mass areas during a launch or structural failure.</a:t>
            </a:r>
          </a:p>
          <a:p>
            <a:r>
              <a:rPr lang="en-US" sz="1700" b="1" dirty="0"/>
              <a:t>Logistical Transport Optimization:</a:t>
            </a:r>
            <a:r>
              <a:rPr lang="en-US" sz="1700" dirty="0"/>
              <a:t> Distance tracking showed tight integration with supply chain networks. Every single site is located within </a:t>
            </a:r>
            <a:r>
              <a:rPr lang="en-US" sz="1700" b="1" dirty="0"/>
              <a:t>1.5 km to 3 km</a:t>
            </a:r>
            <a:r>
              <a:rPr lang="en-US" sz="1700" dirty="0"/>
              <a:t> of major railway lines and national highways, ensuring seamless transport logistics for massive booster sections and payload assemblies.</a:t>
            </a:r>
          </a:p>
          <a:p>
            <a:r>
              <a:rPr lang="en-US" sz="1700" b="1" dirty="0"/>
              <a:t>Reliability Performance Clustering:</a:t>
            </a:r>
            <a:r>
              <a:rPr lang="en-US" sz="1700" dirty="0"/>
              <a:t> Implemented color-coded marker clusters directly onto the map layouts to highlight regional success indices (Green for success, Red for failure). The spatial distribution immediately shows high-density success clusters concentrated around </a:t>
            </a:r>
            <a:r>
              <a:rPr lang="en-US" sz="1700" i="1" dirty="0"/>
              <a:t>KSC LC-39A</a:t>
            </a:r>
            <a:r>
              <a:rPr lang="en-US" sz="1700" dirty="0"/>
              <a:t>, compared to a more volatile distribution on the </a:t>
            </a:r>
            <a:r>
              <a:rPr lang="en-US" sz="1700" i="1" dirty="0"/>
              <a:t>CCAFS</a:t>
            </a:r>
            <a:r>
              <a:rPr lang="en-US" sz="1700" dirty="0"/>
              <a:t> coastline.</a:t>
            </a:r>
          </a:p>
          <a:p>
            <a:endParaRPr lang="en-US" sz="1700" dirty="0"/>
          </a:p>
          <a:p>
            <a:r>
              <a:rPr lang="en-US" sz="1700" b="1" dirty="0"/>
              <a:t>GitHub: </a:t>
            </a:r>
            <a:r>
              <a:rPr lang="en-US" sz="1700" dirty="0">
                <a:hlinkClick r:id="rId3"/>
              </a:rPr>
              <a:t>https://github.com/AbitathaRoy/Applied-Data-Science-Capstone/blob/main/lab-jupyter-6-launch-site-location-v2.ipynb</a:t>
            </a:r>
            <a:endParaRPr lang="en-US" sz="1700" dirty="0"/>
          </a:p>
          <a:p>
            <a:endParaRPr lang="en-US" sz="17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382486"/>
            <a:ext cx="10515601" cy="50447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/>
              <a:t>Flight Number vs. Payload Mass:</a:t>
            </a:r>
            <a:r>
              <a:rPr lang="en-US" sz="1600" dirty="0"/>
              <a:t> Created scatter plots mapping the chronological flight sequence against total cargo weight. This exposed a distinct operational phase shift: early-generation booster flights carrying heavy payloads exceeding </a:t>
            </a:r>
            <a:r>
              <a:rPr lang="en-US" sz="1600" b="1" dirty="0"/>
              <a:t>10,000 kg</a:t>
            </a:r>
            <a:r>
              <a:rPr lang="en-US" sz="1600" dirty="0"/>
              <a:t> had higher failure rates, whereas later-generation boosters achieved near-flawless recovery records across all payload ranges.</a:t>
            </a:r>
          </a:p>
          <a:p>
            <a:r>
              <a:rPr lang="en-US" sz="1600" b="1" dirty="0"/>
              <a:t>Flight Number vs. Launch Site:</a:t>
            </a:r>
            <a:r>
              <a:rPr lang="en-US" sz="1600" dirty="0"/>
              <a:t> Tracked launch site assignments across SpaceX's operational timeline. The visual distribution confirmed that </a:t>
            </a:r>
            <a:r>
              <a:rPr lang="en-US" sz="1600" i="1" dirty="0"/>
              <a:t>CCAFS SLC-40</a:t>
            </a:r>
            <a:r>
              <a:rPr lang="en-US" sz="1600" dirty="0"/>
              <a:t> handled the vast majority of early developmental and high-risk baseline flights, while mature, sequential operational missions shifted heavily to </a:t>
            </a:r>
            <a:r>
              <a:rPr lang="en-US" sz="1600" i="1" dirty="0"/>
              <a:t>KSC LC-39A</a:t>
            </a:r>
            <a:r>
              <a:rPr lang="en-US" sz="1600" dirty="0"/>
              <a:t> and </a:t>
            </a:r>
            <a:r>
              <a:rPr lang="en-US" sz="1600" i="1" dirty="0"/>
              <a:t>VAFB SLC-4E</a:t>
            </a:r>
            <a:r>
              <a:rPr lang="en-US" sz="1600" dirty="0"/>
              <a:t>.</a:t>
            </a:r>
          </a:p>
          <a:p>
            <a:r>
              <a:rPr lang="en-US" sz="1600" b="1" dirty="0"/>
              <a:t>Payload Mass vs. Launch Site:</a:t>
            </a:r>
            <a:r>
              <a:rPr lang="en-US" sz="1600" dirty="0"/>
              <a:t> Correlated payload demands across physical facilities. Visual groupings revealed that </a:t>
            </a:r>
            <a:r>
              <a:rPr lang="en-US" sz="1600" i="1" dirty="0"/>
              <a:t>CCAFS SLC-40</a:t>
            </a:r>
            <a:r>
              <a:rPr lang="en-US" sz="1600" dirty="0"/>
              <a:t> supported an extremely volatile spread of low-to-high mass flights, whereas </a:t>
            </a:r>
            <a:r>
              <a:rPr lang="en-US" sz="1600" i="1" dirty="0"/>
              <a:t>KSC LC-39A</a:t>
            </a:r>
            <a:r>
              <a:rPr lang="en-US" sz="1600" dirty="0"/>
              <a:t> was strategically selected and reserved almost exclusively for heavy commercial payloads exceeding </a:t>
            </a:r>
            <a:r>
              <a:rPr lang="en-US" sz="1600" b="1" dirty="0"/>
              <a:t>6,000 kg</a:t>
            </a:r>
            <a:r>
              <a:rPr lang="en-US" sz="1600" dirty="0"/>
              <a:t>.</a:t>
            </a:r>
          </a:p>
          <a:p>
            <a:r>
              <a:rPr lang="en-US" sz="1600" b="1" dirty="0"/>
              <a:t>Success Rate vs. Orbit Type:</a:t>
            </a:r>
            <a:r>
              <a:rPr lang="en-US" sz="1600" dirty="0"/>
              <a:t> Generated categorical bar charts calculating exact recovery ratios across target orbits. Booster landing success reached a perfect </a:t>
            </a:r>
            <a:r>
              <a:rPr lang="en-US" sz="1600" b="1" dirty="0"/>
              <a:t>100%</a:t>
            </a:r>
            <a:r>
              <a:rPr lang="en-US" sz="1600" dirty="0"/>
              <a:t> for specialized profiles including </a:t>
            </a:r>
            <a:r>
              <a:rPr lang="en-US" sz="1600" i="1" dirty="0"/>
              <a:t>ES-L1</a:t>
            </a:r>
            <a:r>
              <a:rPr lang="en-US" sz="1600" dirty="0"/>
              <a:t>, </a:t>
            </a:r>
            <a:r>
              <a:rPr lang="en-US" sz="1600" i="1" dirty="0"/>
              <a:t>GEO</a:t>
            </a:r>
            <a:r>
              <a:rPr lang="en-US" sz="1600" dirty="0"/>
              <a:t>, </a:t>
            </a:r>
            <a:r>
              <a:rPr lang="en-US" sz="1600" i="1" dirty="0"/>
              <a:t>HEO</a:t>
            </a:r>
            <a:r>
              <a:rPr lang="en-US" sz="1600" dirty="0"/>
              <a:t>, and </a:t>
            </a:r>
            <a:r>
              <a:rPr lang="en-US" sz="1600" i="1" dirty="0"/>
              <a:t>SSO</a:t>
            </a:r>
            <a:r>
              <a:rPr lang="en-US" sz="1600" dirty="0"/>
              <a:t>, while the heavily commercialized </a:t>
            </a:r>
            <a:r>
              <a:rPr lang="en-US" sz="1600" i="1" dirty="0"/>
              <a:t>GTO</a:t>
            </a:r>
            <a:r>
              <a:rPr lang="en-US" sz="1600" dirty="0"/>
              <a:t> (Geostationary Transfer Orbit) trajectory demonstrated mid-tier performance volatility.</a:t>
            </a:r>
          </a:p>
          <a:p>
            <a:r>
              <a:rPr lang="en-US" sz="1600" b="1" dirty="0"/>
              <a:t>Launch Success Yearly Trend:</a:t>
            </a:r>
            <a:r>
              <a:rPr lang="en-US" sz="1600" dirty="0"/>
              <a:t> Plotted a historical line chart tracking fleet-wide landing improvements from 2013 to 2020. The upward trajectory clearly documented the structural engineering learning curve, with baseline landing success rates surging from a </a:t>
            </a:r>
            <a:r>
              <a:rPr lang="en-US" sz="1600" b="1" dirty="0"/>
              <a:t>0% baseline in 2013</a:t>
            </a:r>
            <a:r>
              <a:rPr lang="en-US" sz="1600" dirty="0"/>
              <a:t> to a reliable peak of </a:t>
            </a:r>
            <a:r>
              <a:rPr lang="en-US" sz="1600" b="1" dirty="0"/>
              <a:t>over 80% by 2020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b="1" dirty="0"/>
              <a:t>GitHub: </a:t>
            </a:r>
            <a:r>
              <a:rPr lang="en-US" sz="1600" dirty="0">
                <a:hlinkClick r:id="rId3"/>
              </a:rPr>
              <a:t>https://github.com/AbitathaRoy/Applied-Data-Science-Capstone/blob/main/spacex_dash_app.py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458686"/>
            <a:ext cx="9745589" cy="4718277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1850" b="1" dirty="0"/>
              <a:t>Algorithmic Standardization:</a:t>
            </a:r>
            <a:r>
              <a:rPr lang="en-US" sz="1850" dirty="0"/>
              <a:t> Processed the high-dimensional feature space by establishing a split of </a:t>
            </a:r>
            <a:r>
              <a:rPr lang="en-US" sz="1850" i="1" dirty="0"/>
              <a:t>80% training data</a:t>
            </a:r>
            <a:r>
              <a:rPr lang="en-US" sz="1850" dirty="0"/>
              <a:t> and </a:t>
            </a:r>
            <a:r>
              <a:rPr lang="en-US" sz="1850" i="1" dirty="0"/>
              <a:t>20% validation test data</a:t>
            </a:r>
            <a:r>
              <a:rPr lang="en-US" sz="1850" dirty="0"/>
              <a:t>. Handled feature scale variations across disparate columns by implementing a uniform </a:t>
            </a:r>
            <a:r>
              <a:rPr lang="en-US" sz="1850" i="1" dirty="0" err="1"/>
              <a:t>StandardScaler</a:t>
            </a:r>
            <a:r>
              <a:rPr lang="en-US" sz="1850" dirty="0"/>
              <a:t> matrix.</a:t>
            </a:r>
          </a:p>
          <a:p>
            <a:r>
              <a:rPr lang="en-US" sz="1850" b="1" dirty="0"/>
              <a:t>Hyperparameter Optimization:</a:t>
            </a:r>
            <a:r>
              <a:rPr lang="en-US" sz="1850" dirty="0"/>
              <a:t> Managed internal tuning mechanics by running a robust </a:t>
            </a:r>
            <a:r>
              <a:rPr lang="en-US" sz="1850" i="1" dirty="0"/>
              <a:t>10-Fold Cross-Validation Grid Search</a:t>
            </a:r>
            <a:r>
              <a:rPr lang="en-US" sz="1850" dirty="0"/>
              <a:t> (</a:t>
            </a:r>
            <a:r>
              <a:rPr lang="en-US" sz="1850" dirty="0" err="1"/>
              <a:t>GridSearchCV</a:t>
            </a:r>
            <a:r>
              <a:rPr lang="en-US" sz="1850" dirty="0"/>
              <a:t>). Evaluated four model archetypes: </a:t>
            </a:r>
            <a:r>
              <a:rPr lang="en-US" sz="1850" i="1" dirty="0"/>
              <a:t>Logistic Regression, Support Vector Machine (SVM), K-Nearest Neighbors (KNN), and Decision Tree Classifiers</a:t>
            </a:r>
            <a:r>
              <a:rPr lang="en-US" sz="1850" dirty="0"/>
              <a:t>.</a:t>
            </a:r>
          </a:p>
          <a:p>
            <a:r>
              <a:rPr lang="en-US" sz="1850" b="1" dirty="0"/>
              <a:t>Predictive Convergence:</a:t>
            </a:r>
            <a:r>
              <a:rPr lang="en-US" sz="1850" dirty="0"/>
              <a:t> Discovered an identical operational upper limit across the validation phase, with all four optimized frameworks settling on an exact </a:t>
            </a:r>
            <a:r>
              <a:rPr lang="en-US" sz="1850" i="1" dirty="0"/>
              <a:t>83.33% classification testing accuracy</a:t>
            </a:r>
            <a:r>
              <a:rPr lang="en-US" sz="1850" dirty="0"/>
              <a:t>.</a:t>
            </a:r>
          </a:p>
          <a:p>
            <a:r>
              <a:rPr lang="en-US" sz="1850" b="1" dirty="0"/>
              <a:t>Diagnostic Confusion Matrix:</a:t>
            </a:r>
            <a:r>
              <a:rPr lang="en-US" sz="1850" dirty="0"/>
              <a:t> Verified model reliability metrics under out-of-sample stress tests. The frameworks logged exactly </a:t>
            </a:r>
            <a:r>
              <a:rPr lang="en-US" sz="1850" i="1" dirty="0"/>
              <a:t>13 True Positives</a:t>
            </a:r>
            <a:r>
              <a:rPr lang="en-US" sz="1850" dirty="0"/>
              <a:t>, </a:t>
            </a:r>
            <a:r>
              <a:rPr lang="en-US" sz="1850" i="1" dirty="0"/>
              <a:t>3 True Negatives</a:t>
            </a:r>
            <a:r>
              <a:rPr lang="en-US" sz="1850" dirty="0"/>
              <a:t>, and a perfect </a:t>
            </a:r>
            <a:r>
              <a:rPr lang="en-US" sz="1850" i="1" dirty="0"/>
              <a:t>0 False Negatives</a:t>
            </a:r>
            <a:r>
              <a:rPr lang="en-US" sz="1850" dirty="0"/>
              <a:t>, proving the system is highly secure against unexpected booster asset loss.</a:t>
            </a:r>
          </a:p>
          <a:p>
            <a:endParaRPr lang="en-US" sz="1850" dirty="0"/>
          </a:p>
          <a:p>
            <a:r>
              <a:rPr lang="en-US" sz="1850" b="1" dirty="0"/>
              <a:t>GitHub: </a:t>
            </a:r>
            <a:r>
              <a:rPr lang="en-US" sz="1850" dirty="0">
                <a:hlinkClick r:id="rId3"/>
              </a:rPr>
              <a:t>https://github.com/AbitathaRoy/Applied-Data-Science-Capstone/blob/main/jupyter-labs-7-SpaceX-Machine-Learning-Prediction-Part-5-v1.ipynb</a:t>
            </a:r>
            <a:endParaRPr lang="en-US" sz="1850" dirty="0"/>
          </a:p>
          <a:p>
            <a:endParaRPr lang="en-US" sz="185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D3CB1-72D8-86DB-9CCA-9359F43CA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9B1AD-57D7-B772-00A8-C4D70F03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17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7064FB-BE5B-6842-8541-ABC175EEDCD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CB6557-BF3D-05C4-3FA3-4FD3C2F3C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631" y="1415596"/>
            <a:ext cx="3820737" cy="501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858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480457"/>
            <a:ext cx="10284075" cy="4545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Exploratory Data Analysis Results:</a:t>
            </a:r>
            <a:r>
              <a:rPr lang="en-US" sz="2400" dirty="0">
                <a:solidFill>
                  <a:schemeClr val="tx1"/>
                </a:solidFill>
              </a:rPr>
              <a:t> Isolated a definitive operational learning curve where landing success rates surged from </a:t>
            </a:r>
            <a:r>
              <a:rPr lang="en-US" sz="2400" b="1" dirty="0">
                <a:solidFill>
                  <a:schemeClr val="tx1"/>
                </a:solidFill>
              </a:rPr>
              <a:t>0% in 2013</a:t>
            </a:r>
            <a:r>
              <a:rPr lang="en-US" sz="2400" dirty="0">
                <a:solidFill>
                  <a:schemeClr val="tx1"/>
                </a:solidFill>
              </a:rPr>
              <a:t> to a reliable peak of </a:t>
            </a:r>
            <a:r>
              <a:rPr lang="en-US" sz="2400" b="1" dirty="0">
                <a:solidFill>
                  <a:schemeClr val="tx1"/>
                </a:solidFill>
              </a:rPr>
              <a:t>80% by 2020</a:t>
            </a:r>
            <a:r>
              <a:rPr lang="en-US" sz="2400" dirty="0">
                <a:solidFill>
                  <a:schemeClr val="tx1"/>
                </a:solidFill>
              </a:rPr>
              <a:t>. Visualizations confirmed that </a:t>
            </a:r>
            <a:r>
              <a:rPr lang="en-US" sz="2400" b="1" dirty="0">
                <a:solidFill>
                  <a:schemeClr val="tx1"/>
                </a:solidFill>
              </a:rPr>
              <a:t>KSC LC-39A</a:t>
            </a:r>
            <a:r>
              <a:rPr lang="en-US" sz="2400" dirty="0">
                <a:solidFill>
                  <a:schemeClr val="tx1"/>
                </a:solidFill>
              </a:rPr>
              <a:t> is the most reliable facility for heavy commercial payloads and that specific orbits like </a:t>
            </a:r>
            <a:r>
              <a:rPr lang="en-US" sz="2400" b="1" dirty="0">
                <a:solidFill>
                  <a:schemeClr val="tx1"/>
                </a:solidFill>
              </a:rPr>
              <a:t>SSO and HEO</a:t>
            </a:r>
            <a:r>
              <a:rPr lang="en-US" sz="2400" dirty="0">
                <a:solidFill>
                  <a:schemeClr val="tx1"/>
                </a:solidFill>
              </a:rPr>
              <a:t> yield 100% booster recovery success.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Interactive Analytics Demo:</a:t>
            </a:r>
            <a:r>
              <a:rPr lang="en-US" sz="2400" dirty="0">
                <a:solidFill>
                  <a:schemeClr val="tx1"/>
                </a:solidFill>
              </a:rPr>
              <a:t> Constructed geospatial maps using </a:t>
            </a:r>
            <a:r>
              <a:rPr lang="en-US" sz="2400" b="1" dirty="0">
                <a:solidFill>
                  <a:schemeClr val="tx1"/>
                </a:solidFill>
              </a:rPr>
              <a:t>Folium</a:t>
            </a:r>
            <a:r>
              <a:rPr lang="en-US" sz="2400" dirty="0">
                <a:solidFill>
                  <a:schemeClr val="tx1"/>
                </a:solidFill>
              </a:rPr>
              <a:t> that mathematically confirmed launchpad proximity to coastlines (</a:t>
            </a:r>
            <a:r>
              <a:rPr lang="en-US" sz="2400" b="1" dirty="0">
                <a:solidFill>
                  <a:schemeClr val="tx1"/>
                </a:solidFill>
              </a:rPr>
              <a:t>&lt; 2 km</a:t>
            </a:r>
            <a:r>
              <a:rPr lang="en-US" sz="2400" dirty="0">
                <a:solidFill>
                  <a:schemeClr val="tx1"/>
                </a:solidFill>
              </a:rPr>
              <a:t>) and logistical infrastructure (</a:t>
            </a:r>
            <a:r>
              <a:rPr lang="en-US" sz="2400" b="1" dirty="0">
                <a:solidFill>
                  <a:schemeClr val="tx1"/>
                </a:solidFill>
              </a:rPr>
              <a:t>&lt; 3 km</a:t>
            </a:r>
            <a:r>
              <a:rPr lang="en-US" sz="2400" dirty="0">
                <a:solidFill>
                  <a:schemeClr val="tx1"/>
                </a:solidFill>
              </a:rPr>
              <a:t>). Built a </a:t>
            </a:r>
            <a:r>
              <a:rPr lang="en-US" sz="2400" b="1" dirty="0">
                <a:solidFill>
                  <a:schemeClr val="tx1"/>
                </a:solidFill>
              </a:rPr>
              <a:t>Plotly Dash</a:t>
            </a:r>
            <a:r>
              <a:rPr lang="en-US" sz="2400" dirty="0">
                <a:solidFill>
                  <a:schemeClr val="tx1"/>
                </a:solidFill>
              </a:rPr>
              <a:t> dashboard that enables real-time filtering and auditing of success ratios based on site location and payload mass ranges.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Predictive Analysis Results:</a:t>
            </a:r>
            <a:r>
              <a:rPr lang="en-US" sz="2400" dirty="0">
                <a:solidFill>
                  <a:schemeClr val="tx1"/>
                </a:solidFill>
              </a:rPr>
              <a:t> Optimized four machine learning classifiers that achieved a uniform </a:t>
            </a:r>
            <a:r>
              <a:rPr lang="en-US" sz="2400" b="1" dirty="0">
                <a:solidFill>
                  <a:schemeClr val="tx1"/>
                </a:solidFill>
              </a:rPr>
              <a:t>83.33% accuracy</a:t>
            </a:r>
            <a:r>
              <a:rPr lang="en-US" sz="2400" dirty="0">
                <a:solidFill>
                  <a:schemeClr val="tx1"/>
                </a:solidFill>
              </a:rPr>
              <a:t> on unseen test data. The diagnostic confusion matrix revealed a </a:t>
            </a:r>
            <a:r>
              <a:rPr lang="en-US" sz="2400" b="1" dirty="0">
                <a:solidFill>
                  <a:schemeClr val="tx1"/>
                </a:solidFill>
              </a:rPr>
              <a:t>0% False Negative rate</a:t>
            </a:r>
            <a:r>
              <a:rPr lang="en-US" sz="2400" dirty="0">
                <a:solidFill>
                  <a:schemeClr val="tx1"/>
                </a:solidFill>
              </a:rPr>
              <a:t>, ensuring that potential booster losses are never misclassified as successes—thereby eliminating critical financial risk in commercial bidding.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64973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Flight Number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Payload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82114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bar chart for the success rate of each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6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Flight number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payload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line chart of yearly average success rate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the names of the unique launch sites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5 records where launch sites begin with `CCA`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payload carried by boosters from NASA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average payload mass carried by booster version F9 v1.1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dates of the first successful landing outcome on ground pad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boosters which have successfully landed on drone ship and had payload mass greater than 4000 but less than 6000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number of successful and failure mission outcomes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List the names of the booster which have carried the maximum payload mass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failed 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landing_outcomes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in drone ship, their booster versions, and launch site names for in year 2015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Rank the count of landing outcomes (such as Failure (drone ship) or Success (ground pad)) between the date 2010-06-04 and 2017-03-20, in descending order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make a proper screenshot to include all launch sites’ location markers on a global map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  <a:ea typeface="+mn-lt"/>
                <a:cs typeface="+mn-lt"/>
              </a:rPr>
              <a:t>Explore the folium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map and make a proper screenshot to show the color-labeled launch outcomes on the map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spcBef>
                <a:spcPts val="1400"/>
              </a:spcBef>
            </a:pPr>
            <a:endParaRPr lang="en-US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690688"/>
            <a:ext cx="8597827" cy="43148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show the screenshot of a selected launch site to its proximities such as railway, highway, coastline, with distance calculated and displayed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launch success count for all sites, in a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for the launch site with highest launch success ratio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414662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Replace &lt;Dashboard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screenshots of Payload vs. Launch Outcome scatter plot for all sites, with different payload selected in the range slider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screenshot, such as which payload range or booster version have the largest success rate, etc.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2082114"/>
            <a:ext cx="5325989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built model accuracy for all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built classification models, in a bar chart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which model has the highest classification accuracy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9477960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confusion matrix of the best performing model with an explanation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47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2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3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4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48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Include any relevant assets like Python code snippets, SQL queries, charts, Notebook outputs, or data sets that you may have created during this project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3496</Words>
  <Application>Microsoft Office PowerPoint</Application>
  <PresentationFormat>Widescreen</PresentationFormat>
  <Paragraphs>262</Paragraphs>
  <Slides>49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Abadi</vt:lpstr>
      <vt:lpstr>Arial</vt:lpstr>
      <vt:lpstr>Calibri</vt:lpstr>
      <vt:lpstr>IBM Plex Mono SemiBold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Debashis Roy</cp:lastModifiedBy>
  <cp:revision>205</cp:revision>
  <dcterms:created xsi:type="dcterms:W3CDTF">2021-04-29T18:58:34Z</dcterms:created>
  <dcterms:modified xsi:type="dcterms:W3CDTF">2026-06-02T18:48:05Z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